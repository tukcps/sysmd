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8" r:id="rId4"/>
    <p:sldId id="260" r:id="rId5"/>
    <p:sldId id="257" r:id="rId6"/>
    <p:sldId id="259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58"/>
  </p:normalViewPr>
  <p:slideViewPr>
    <p:cSldViewPr snapToGrid="0">
      <p:cViewPr varScale="1">
        <p:scale>
          <a:sx n="113" d="100"/>
          <a:sy n="113" d="100"/>
        </p:scale>
        <p:origin x="1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D67B6-BFE0-7BF5-7E1A-70C4DCE9B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064F94F-DCA6-F9E1-7662-2B3BFAEBC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544350-56BE-6876-7FF9-5638249E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A9269C-4ED2-91A2-8A31-B284B35F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002773-8C55-9BF0-5429-06756023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5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F77B18-16FD-0647-5C32-2936AD73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AFF597-6092-76AB-29E0-0F3175396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F880D8-68A1-DFBC-AA8B-14911138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65ECE0-A0E4-347C-D153-8ACFCD25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943CA7-C751-9DA6-533B-515C5A93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6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F826A-183E-2F41-80E6-1C4805BAE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AE7A60-5AB3-D82C-CD63-B075F4BC3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18704A-7CF6-1F90-E570-7D9EBFE6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3628EA-446E-CF5A-A1D1-AEC51CB4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1DBEFE-F7D2-20E7-6B3C-A05D223F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52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4D636D-4991-4003-6A2F-585D56D0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E2239E-8CEF-3383-7650-DEB63A27C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075BCA-E7AE-A757-37AA-929EBD370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CEA396-C5FE-46C5-11FA-9F0D2361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E5C0EC-174F-E499-CAC1-BD091730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6A2E1F-7430-8858-15A9-B404DEC1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2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947F29-1FA4-F565-E5E9-4F692FAD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036A28-D5ED-1DA6-D8D5-D88949A4B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1F0F0C-BD15-09F8-AEDB-68DB72924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437517-F9EB-BD17-6F32-EF059A990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56F48A9-F56B-9541-D189-AA0C49773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3F0BB51-EEDD-DB74-1A76-BEA3AC01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53B249-3F18-D1EE-3EDB-0820A124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2FD21CC-5578-81E2-A2C2-526B5767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2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3E982C-A62E-5205-3327-96F35BDF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AB93FB-EE3B-8994-4576-0A8C682A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B51214-2574-BB3B-3141-E0F0508A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B99527-E7F4-6CC6-ACA2-09CC426F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30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23E6BC-C08A-7CEF-9BBA-72C4E284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E8F93FA-94C9-6062-3211-65AACBF8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57A615-5EBE-B30E-E8BF-742E5EBB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4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E4F48-795D-B443-5071-28C9DB63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5B2686-EFC1-0B40-48F8-415CA3DC0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FD1507-4C62-9A56-C59E-16092E783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835EBE-94C3-9469-48DD-D377FF25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90EFBF-1752-7956-3ECB-21CDE70A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040E7E-1F29-3D13-E48C-EE01AA3C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0109B8-A0E6-CC4E-2FB1-47BA73C6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455AE7A-E6CA-4142-3F36-8A7058487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475684-CE7A-B673-1840-6393C869C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06A2C7-AB36-5856-5B58-C1F796C2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A39C5B-BEC8-7E65-27BF-9C7B43E6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C904B1-81FE-9D20-4DCF-ADD09016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09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68822-DC27-2550-3070-5E1893D8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A9CB04-C1F8-9038-D056-7F7F23C76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4F845E-04B9-0BE8-E3EE-336143AE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126F04-61C9-EC99-9382-48763E7C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BBB6D9-8C31-9F50-6444-97D9B016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6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30FB7E0-F16B-8472-9B97-104971A7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1E6D1E-50C9-B0B4-0410-A55090CBD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326CAE-1DAC-7E0A-43C1-BBBF860F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B0AF48-8F51-CE05-1828-D0D9762C8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1B6E74-8C66-84C5-7C59-C17C5B8E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76873A-1730-C9DE-ED85-3FC7A1E5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2EE0E2-088D-FFD9-123E-476D41479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25E78A-7DA9-76E5-05DF-CA141B0C8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32755-8F6D-BB48-AB78-E7F37302F03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5C1E31-9D88-3259-0AFC-F48859D26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E25397-6B71-18CC-AAEA-F4A4F61E9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D6884-4D0D-EE45-A985-9FCD998923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5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E72AA-36BF-FB4C-7134-5EFE65070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SysMD v3 Architecture &amp; Testing Concept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2DCFCF-6CCD-D931-66CF-634684C6C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Christoph Grimm, Moritz Schuler, Sebastian Post</a:t>
            </a:r>
          </a:p>
          <a:p>
            <a:r>
              <a:rPr lang="en-US" dirty="0"/>
              <a:t>RPTU Kaiserslautern-Landau</a:t>
            </a:r>
          </a:p>
          <a:p>
            <a:r>
              <a:rPr lang="en-US" dirty="0"/>
              <a:t>Chair of Cyber-Physical Systems</a:t>
            </a:r>
          </a:p>
        </p:txBody>
      </p:sp>
    </p:spTree>
    <p:extLst>
      <p:ext uri="{BB962C8B-B14F-4D97-AF65-F5344CB8AC3E}">
        <p14:creationId xmlns:p14="http://schemas.microsoft.com/office/powerpoint/2010/main" val="312326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3C185-8013-E1DA-D2D2-09A02C9D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v2 Nightmare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2CC9E0-7FD5-AA62-1939-A091F0D24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Compiler generates Model (per se nice and ok) </a:t>
            </a:r>
          </a:p>
          <a:p>
            <a:pPr lvl="1"/>
            <a:r>
              <a:rPr lang="en-US" sz="2000" dirty="0"/>
              <a:t>Both tightly interwoven and each quite complex</a:t>
            </a:r>
          </a:p>
          <a:p>
            <a:pPr lvl="1"/>
            <a:endParaRPr lang="en-US" sz="2000" dirty="0"/>
          </a:p>
          <a:p>
            <a:r>
              <a:rPr lang="en-US" sz="2400" dirty="0"/>
              <a:t>Model also implements computation of expressions (hmm …) </a:t>
            </a:r>
          </a:p>
          <a:p>
            <a:pPr lvl="1"/>
            <a:r>
              <a:rPr lang="en-US" sz="2000" dirty="0"/>
              <a:t>Now, even more complex computation / dispatcher added on top 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Model also interwoven with solver (ups …) </a:t>
            </a:r>
          </a:p>
          <a:p>
            <a:pPr lvl="1"/>
            <a:r>
              <a:rPr lang="en-US" sz="2000" dirty="0"/>
              <a:t>The ultimate nightmare … make one mistake and enjoy test &amp; debug! 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API and interfaces exist … </a:t>
            </a:r>
            <a:r>
              <a:rPr lang="en-US" sz="2400" i="1" dirty="0"/>
              <a:t>but do not reduce complexity effectively because of complex dependencies </a:t>
            </a:r>
          </a:p>
          <a:p>
            <a:endParaRPr lang="en-US" sz="2400" i="1" dirty="0"/>
          </a:p>
          <a:p>
            <a:r>
              <a:rPr lang="en-US" sz="2400" dirty="0"/>
              <a:t>Modification of single part needs and impacts the whole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Bad for understanding, testing, re-use, … </a:t>
            </a:r>
          </a:p>
          <a:p>
            <a:endParaRPr lang="en-US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C7FA372-6D8A-6DBB-F554-3B2084C4A924}"/>
              </a:ext>
            </a:extLst>
          </p:cNvPr>
          <p:cNvSpPr/>
          <p:nvPr/>
        </p:nvSpPr>
        <p:spPr>
          <a:xfrm>
            <a:off x="8277569" y="1227866"/>
            <a:ext cx="1839558" cy="1355464"/>
          </a:xfrm>
          <a:prstGeom prst="rect">
            <a:avLst/>
          </a:prstGeom>
          <a:solidFill>
            <a:schemeClr val="bg1">
              <a:lumMod val="85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Parser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Translates Text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Model Elements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886FD3C-CE2B-8655-F126-FC8CE1434534}"/>
              </a:ext>
            </a:extLst>
          </p:cNvPr>
          <p:cNvSpPr/>
          <p:nvPr/>
        </p:nvSpPr>
        <p:spPr>
          <a:xfrm>
            <a:off x="9137388" y="1785611"/>
            <a:ext cx="1839558" cy="1355464"/>
          </a:xfrm>
          <a:prstGeom prst="rect">
            <a:avLst/>
          </a:prstGeom>
          <a:solidFill>
            <a:schemeClr val="bg1">
              <a:lumMod val="85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b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Resolve Names,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Inheritance, 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 checks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AC4F0A-BF2A-8930-2D01-C60DDBE0DD36}"/>
              </a:ext>
            </a:extLst>
          </p:cNvPr>
          <p:cNvSpPr/>
          <p:nvPr/>
        </p:nvSpPr>
        <p:spPr>
          <a:xfrm>
            <a:off x="9997207" y="2313376"/>
            <a:ext cx="1839558" cy="1355464"/>
          </a:xfrm>
          <a:prstGeom prst="rect">
            <a:avLst/>
          </a:prstGeom>
          <a:solidFill>
            <a:schemeClr val="bg1">
              <a:lumMod val="85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Solver</a:t>
            </a:r>
            <a:b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consistency</a:t>
            </a:r>
          </a:p>
          <a:p>
            <a:pPr algn="ctr"/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711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A4777-3033-C5EC-0610-F040EEA6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Refactoring v2 to v3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86B28B-7DEC-9205-933F-F05832AEC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Significantly improve Testability, Diagnosability </a:t>
            </a:r>
            <a:r>
              <a:rPr lang="en-US" sz="2400" dirty="0"/>
              <a:t> </a:t>
            </a:r>
          </a:p>
          <a:p>
            <a:pPr lvl="1"/>
            <a:r>
              <a:rPr lang="en-US" sz="2000" b="1" dirty="0"/>
              <a:t>Problem</a:t>
            </a:r>
            <a:r>
              <a:rPr lang="en-US" sz="2000" dirty="0"/>
              <a:t>: many tests involve Compiler, Model or even Solver.</a:t>
            </a:r>
          </a:p>
          <a:p>
            <a:pPr lvl="1"/>
            <a:r>
              <a:rPr lang="en-US" sz="2000" dirty="0"/>
              <a:t>… not really unit tests, rather random coverage, hence lack systematic test/coverage.</a:t>
            </a:r>
          </a:p>
          <a:p>
            <a:pPr lvl="1"/>
            <a:r>
              <a:rPr lang="en-US" sz="2000" b="1" i="1" dirty="0"/>
              <a:t>Better</a:t>
            </a:r>
            <a:r>
              <a:rPr lang="en-US" sz="2000" i="1" dirty="0"/>
              <a:t>: separation of compiler, model, solver by API with </a:t>
            </a:r>
            <a:r>
              <a:rPr lang="en-US" sz="2000" i="1" u="sng" dirty="0"/>
              <a:t>basic </a:t>
            </a:r>
            <a:r>
              <a:rPr lang="en-US" sz="2000" i="1" dirty="0"/>
              <a:t>needs, less dependencies. </a:t>
            </a:r>
          </a:p>
          <a:p>
            <a:endParaRPr lang="en-US" sz="2400" dirty="0"/>
          </a:p>
          <a:p>
            <a:r>
              <a:rPr lang="en-US" sz="2400" b="1" dirty="0"/>
              <a:t>Allow Modular (Re-)Use </a:t>
            </a:r>
            <a:endParaRPr lang="en-US" sz="2400" dirty="0"/>
          </a:p>
          <a:p>
            <a:pPr lvl="1"/>
            <a:r>
              <a:rPr lang="en-US" sz="2000" b="1" dirty="0"/>
              <a:t>Problem</a:t>
            </a:r>
            <a:r>
              <a:rPr lang="en-US" sz="2000" dirty="0"/>
              <a:t>: no way to (re-)use modules independent from each other. </a:t>
            </a:r>
          </a:p>
          <a:p>
            <a:pPr lvl="1"/>
            <a:r>
              <a:rPr lang="en-US" sz="2000" b="1" i="1" dirty="0"/>
              <a:t>Better</a:t>
            </a:r>
            <a:r>
              <a:rPr lang="en-US" sz="2000" i="1" dirty="0"/>
              <a:t>: allow use of compiler, solver, model separately in spin-off projects. </a:t>
            </a:r>
          </a:p>
          <a:p>
            <a:pPr lvl="2"/>
            <a:r>
              <a:rPr lang="en-US" sz="1600" dirty="0"/>
              <a:t>E.g., Backend repository-only, Web-UI only, Notebook, … </a:t>
            </a:r>
          </a:p>
          <a:p>
            <a:pPr lvl="2"/>
            <a:r>
              <a:rPr lang="en-US" sz="1600" dirty="0"/>
              <a:t>Easy exchange parts against others in case there is OMG standard module (model!) </a:t>
            </a:r>
          </a:p>
          <a:p>
            <a:pPr lvl="1"/>
            <a:endParaRPr lang="en-US" sz="2000" dirty="0"/>
          </a:p>
          <a:p>
            <a:r>
              <a:rPr lang="en-US" sz="2400" dirty="0"/>
              <a:t>!! </a:t>
            </a:r>
            <a:r>
              <a:rPr lang="en-US" sz="2400" b="1" dirty="0"/>
              <a:t>Lower entry hurdle for contributors </a:t>
            </a:r>
            <a:r>
              <a:rPr lang="en-US" sz="2400" dirty="0"/>
              <a:t>!! </a:t>
            </a:r>
          </a:p>
          <a:p>
            <a:pPr lvl="1"/>
            <a:r>
              <a:rPr lang="en-US" sz="2000" b="1" dirty="0"/>
              <a:t>Problem</a:t>
            </a:r>
            <a:r>
              <a:rPr lang="en-US" sz="2000" dirty="0"/>
              <a:t>: contributors/students fail mastering huge, historically grown code base.</a:t>
            </a:r>
          </a:p>
          <a:p>
            <a:pPr lvl="1"/>
            <a:r>
              <a:rPr lang="en-US" sz="2000" b="1" i="1" dirty="0"/>
              <a:t>Better</a:t>
            </a:r>
            <a:r>
              <a:rPr lang="en-US" sz="2000" i="1" dirty="0"/>
              <a:t>: avoid need to understand complete code-base and its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1940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1B381-AAFB-6836-5AC6-411E083B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v3 Concept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A8A139-A667-848D-A953-3BA25417D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Compiler</a:t>
            </a:r>
            <a:r>
              <a:rPr lang="en-US" sz="2400" dirty="0"/>
              <a:t> generates API elements, </a:t>
            </a:r>
            <a:r>
              <a:rPr lang="en-US" sz="2400" b="1" dirty="0"/>
              <a:t>not</a:t>
            </a:r>
            <a:r>
              <a:rPr lang="en-US" sz="2400" dirty="0"/>
              <a:t> meta-model inst., reports Issues</a:t>
            </a:r>
          </a:p>
          <a:p>
            <a:pPr lvl="1"/>
            <a:r>
              <a:rPr lang="en-US" sz="2000" dirty="0"/>
              <a:t>Makes compiler easier – semantic rules create Element data models only. </a:t>
            </a:r>
          </a:p>
          <a:p>
            <a:pPr lvl="1"/>
            <a:r>
              <a:rPr lang="en-US" sz="2000" dirty="0"/>
              <a:t>Semantic checks and name resolution postponed to model.</a:t>
            </a:r>
          </a:p>
          <a:p>
            <a:r>
              <a:rPr lang="en-US" sz="2400" b="1" dirty="0"/>
              <a:t>Repository</a:t>
            </a:r>
            <a:r>
              <a:rPr lang="en-US" sz="2400" dirty="0"/>
              <a:t> persists API elements (and non-standard, internal </a:t>
            </a:r>
            <a:r>
              <a:rPr lang="en-US" sz="2400" dirty="0" err="1"/>
              <a:t>ElementData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Libraries, Projects w/ usages</a:t>
            </a:r>
          </a:p>
          <a:p>
            <a:pPr lvl="1"/>
            <a:r>
              <a:rPr lang="en-US" sz="2000" dirty="0"/>
              <a:t>Internally allowed: references between libraries, projects, late “linking”, ref. to source code</a:t>
            </a:r>
          </a:p>
          <a:p>
            <a:r>
              <a:rPr lang="en-US" sz="2400" b="1" dirty="0"/>
              <a:t>Model</a:t>
            </a:r>
            <a:r>
              <a:rPr lang="en-US" sz="2400" dirty="0"/>
              <a:t> imports (extended) Element data models, reports Issues</a:t>
            </a:r>
          </a:p>
          <a:p>
            <a:pPr lvl="1"/>
            <a:r>
              <a:rPr lang="en-US" sz="2000" dirty="0"/>
              <a:t>Builds Metamodel instances, links libraries, projects</a:t>
            </a:r>
          </a:p>
          <a:p>
            <a:pPr lvl="1"/>
            <a:r>
              <a:rPr lang="en-US" sz="2000" dirty="0"/>
              <a:t>Resolves names and feature chains</a:t>
            </a:r>
          </a:p>
          <a:p>
            <a:pPr lvl="1"/>
            <a:r>
              <a:rPr lang="en-US" sz="2000" dirty="0"/>
              <a:t>Does checks: Co/Contra/Invariance (Classes using Ranges library) following Liskov pr. </a:t>
            </a:r>
          </a:p>
          <a:p>
            <a:r>
              <a:rPr lang="en-US" sz="2400" b="1" dirty="0"/>
              <a:t>Solver</a:t>
            </a:r>
            <a:r>
              <a:rPr lang="en-US" sz="2400" dirty="0"/>
              <a:t> imports Model, reports Issues (inconsistency, lack of satisfiability, …) </a:t>
            </a:r>
          </a:p>
          <a:p>
            <a:pPr lvl="1"/>
            <a:r>
              <a:rPr lang="en-US" sz="2000" dirty="0"/>
              <a:t>Computes (over-approx.) of consistent valuations of all variables, considering expressions</a:t>
            </a:r>
          </a:p>
          <a:p>
            <a:pPr lvl="1"/>
            <a:r>
              <a:rPr lang="en-US" sz="2000" dirty="0"/>
              <a:t>Reports possible value-ranges for all variables incl. multiplicities</a:t>
            </a:r>
          </a:p>
          <a:p>
            <a:pPr lvl="1"/>
            <a:r>
              <a:rPr lang="en-US" sz="2000" dirty="0" err="1"/>
              <a:t>WiP</a:t>
            </a:r>
            <a:r>
              <a:rPr lang="en-US" sz="2000" dirty="0"/>
              <a:t>: Dispatcher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3321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45F853F-3619-C805-CB33-E1DB1D851252}"/>
              </a:ext>
            </a:extLst>
          </p:cNvPr>
          <p:cNvSpPr/>
          <p:nvPr/>
        </p:nvSpPr>
        <p:spPr>
          <a:xfrm>
            <a:off x="2011681" y="2250524"/>
            <a:ext cx="1839558" cy="13554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Parser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Translates Text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ElementData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(and Status)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636BF3-AF0A-A493-0D7A-5F82E6B82689}"/>
              </a:ext>
            </a:extLst>
          </p:cNvPr>
          <p:cNvSpPr txBox="1"/>
          <p:nvPr/>
        </p:nvSpPr>
        <p:spPr>
          <a:xfrm>
            <a:off x="484533" y="2605090"/>
            <a:ext cx="1048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KerML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SysML v2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B29E2B1-6DC0-4F5D-3E2E-B67F835AA2A1}"/>
              </a:ext>
            </a:extLst>
          </p:cNvPr>
          <p:cNvSpPr txBox="1"/>
          <p:nvPr/>
        </p:nvSpPr>
        <p:spPr>
          <a:xfrm>
            <a:off x="3919165" y="2550856"/>
            <a:ext cx="1397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ElementData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49D4B5B-44BD-B42E-F4D3-F2844DA85687}"/>
              </a:ext>
            </a:extLst>
          </p:cNvPr>
          <p:cNvSpPr/>
          <p:nvPr/>
        </p:nvSpPr>
        <p:spPr>
          <a:xfrm>
            <a:off x="5469427" y="2242456"/>
            <a:ext cx="1839558" cy="13554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b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Resolve Names,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Inheritance, 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 checks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FA21DFD-3D26-C123-2E5C-D4CB036E0DAF}"/>
              </a:ext>
            </a:extLst>
          </p:cNvPr>
          <p:cNvSpPr txBox="1"/>
          <p:nvPr/>
        </p:nvSpPr>
        <p:spPr>
          <a:xfrm>
            <a:off x="7479538" y="2204607"/>
            <a:ext cx="1277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Metamodel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Elements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68972EA-4FAE-1080-B0CC-6E3DC6A5BA41}"/>
              </a:ext>
            </a:extLst>
          </p:cNvPr>
          <p:cNvSpPr/>
          <p:nvPr/>
        </p:nvSpPr>
        <p:spPr>
          <a:xfrm>
            <a:off x="8927173" y="2250524"/>
            <a:ext cx="1839558" cy="13554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Solver</a:t>
            </a:r>
            <a:b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Variables,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Expressions,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7932779-C544-D969-8A96-0E0D2D226A57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1533090" y="2928256"/>
            <a:ext cx="4785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9D19613-446F-C595-C2F8-53730CB005B8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3851239" y="2920188"/>
            <a:ext cx="1618188" cy="8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254BD7D-EE47-BE8D-73E8-0172EDDA076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7308985" y="2920188"/>
            <a:ext cx="1618188" cy="8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489F0E69-F548-5F26-7262-AE9C9179F182}"/>
              </a:ext>
            </a:extLst>
          </p:cNvPr>
          <p:cNvSpPr txBox="1"/>
          <p:nvPr/>
        </p:nvSpPr>
        <p:spPr>
          <a:xfrm>
            <a:off x="4265212" y="3736419"/>
            <a:ext cx="35571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ElementData</a:t>
            </a:r>
            <a:r>
              <a:rPr lang="en-US" sz="1600" b="1" dirty="0"/>
              <a:t> :&gt; </a:t>
            </a:r>
            <a:r>
              <a:rPr lang="en-US" sz="1600" b="1" dirty="0" err="1"/>
              <a:t>ElementDAO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Added for </a:t>
            </a:r>
            <a:r>
              <a:rPr lang="en-US" sz="1400" b="1" dirty="0"/>
              <a:t>error reporting</a:t>
            </a:r>
            <a:r>
              <a:rPr lang="en-US" sz="1400" dirty="0"/>
              <a:t>:   </a:t>
            </a:r>
            <a:br>
              <a:rPr lang="en-US" sz="1400" dirty="0"/>
            </a:br>
            <a:r>
              <a:rPr lang="en-US" sz="1400" dirty="0"/>
              <a:t>Input, line, indices,  </a:t>
            </a:r>
            <a:br>
              <a:rPr lang="en-US" sz="1400" dirty="0"/>
            </a:br>
            <a:r>
              <a:rPr lang="en-US" sz="1400" dirty="0" err="1"/>
              <a:t>ErrorElement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Added for </a:t>
            </a:r>
            <a:r>
              <a:rPr lang="en-US" sz="1400" b="1" dirty="0"/>
              <a:t>“linking” of unresolved references</a:t>
            </a:r>
            <a:r>
              <a:rPr lang="en-US" sz="14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Identified(id: UUID)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IdentfiedByName</a:t>
            </a:r>
            <a:r>
              <a:rPr lang="en-US" sz="1400" dirty="0"/>
              <a:t>(name: String), can be qualified name or feature chain relative to owning element.</a:t>
            </a:r>
            <a:endParaRPr lang="en-US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700A171-A92C-F9A1-5FB9-AF9FE20F03B2}"/>
              </a:ext>
            </a:extLst>
          </p:cNvPr>
          <p:cNvSpPr txBox="1"/>
          <p:nvPr/>
        </p:nvSpPr>
        <p:spPr>
          <a:xfrm>
            <a:off x="1577744" y="3736419"/>
            <a:ext cx="2341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ElementDAO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Element from API spec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0A70C672-F741-6684-25BC-2B3B16963255}"/>
              </a:ext>
            </a:extLst>
          </p:cNvPr>
          <p:cNvCxnSpPr>
            <a:cxnSpLocks/>
          </p:cNvCxnSpPr>
          <p:nvPr/>
        </p:nvCxnSpPr>
        <p:spPr>
          <a:xfrm>
            <a:off x="3919165" y="1289155"/>
            <a:ext cx="0" cy="329783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A6EDB3F-3E9F-E485-C13D-EF4A1952BBEC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846952" y="1289155"/>
            <a:ext cx="0" cy="961369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0213715F-FB49-B46E-438F-CD1814B9B714}"/>
              </a:ext>
            </a:extLst>
          </p:cNvPr>
          <p:cNvCxnSpPr>
            <a:cxnSpLocks/>
          </p:cNvCxnSpPr>
          <p:nvPr/>
        </p:nvCxnSpPr>
        <p:spPr>
          <a:xfrm>
            <a:off x="6389206" y="1289155"/>
            <a:ext cx="0" cy="961369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CCBCC240-CC27-0E34-78C2-764EE7D2D458}"/>
              </a:ext>
            </a:extLst>
          </p:cNvPr>
          <p:cNvSpPr/>
          <p:nvPr/>
        </p:nvSpPr>
        <p:spPr>
          <a:xfrm>
            <a:off x="2999385" y="452156"/>
            <a:ext cx="7553689" cy="8704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Notebook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(Web/React by Industry, or KMP as on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via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SessionService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(Rest or PIM)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D70431-3A32-EFEB-D53D-C7B60A6A5A22}"/>
              </a:ext>
            </a:extLst>
          </p:cNvPr>
          <p:cNvSpPr txBox="1"/>
          <p:nvPr/>
        </p:nvSpPr>
        <p:spPr>
          <a:xfrm>
            <a:off x="3917181" y="1373361"/>
            <a:ext cx="1675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ElementData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Status w/Issues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B9910DB-B5E4-0F0B-E020-F45DAFB71313}"/>
              </a:ext>
            </a:extLst>
          </p:cNvPr>
          <p:cNvSpPr txBox="1"/>
          <p:nvPr/>
        </p:nvSpPr>
        <p:spPr>
          <a:xfrm>
            <a:off x="6389205" y="1373361"/>
            <a:ext cx="969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(Issues)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41DC100-E917-3382-E890-2F3B4354F740}"/>
              </a:ext>
            </a:extLst>
          </p:cNvPr>
          <p:cNvSpPr txBox="1"/>
          <p:nvPr/>
        </p:nvSpPr>
        <p:spPr>
          <a:xfrm>
            <a:off x="9846951" y="1377962"/>
            <a:ext cx="155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(Issues,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Values)</a:t>
            </a:r>
          </a:p>
        </p:txBody>
      </p:sp>
      <p:sp>
        <p:nvSpPr>
          <p:cNvPr id="33" name="Zylinder 32">
            <a:extLst>
              <a:ext uri="{FF2B5EF4-FFF2-40B4-BE49-F238E27FC236}">
                <a16:creationId xmlns:a16="http://schemas.microsoft.com/office/drawing/2014/main" id="{9B863FAA-929A-12CB-9911-17BEB492DCE3}"/>
              </a:ext>
            </a:extLst>
          </p:cNvPr>
          <p:cNvSpPr/>
          <p:nvPr/>
        </p:nvSpPr>
        <p:spPr>
          <a:xfrm>
            <a:off x="3282846" y="4580863"/>
            <a:ext cx="1244184" cy="1151351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Libraries,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Projects</a:t>
            </a:r>
          </a:p>
        </p:txBody>
      </p:sp>
      <p:sp>
        <p:nvSpPr>
          <p:cNvPr id="34" name="Rechteckige Legende 33">
            <a:extLst>
              <a:ext uri="{FF2B5EF4-FFF2-40B4-BE49-F238E27FC236}">
                <a16:creationId xmlns:a16="http://schemas.microsoft.com/office/drawing/2014/main" id="{4050553C-3CFC-43CE-E059-700DC04812E7}"/>
              </a:ext>
            </a:extLst>
          </p:cNvPr>
          <p:cNvSpPr/>
          <p:nvPr/>
        </p:nvSpPr>
        <p:spPr>
          <a:xfrm>
            <a:off x="359763" y="569625"/>
            <a:ext cx="2159918" cy="1550457"/>
          </a:xfrm>
          <a:prstGeom prst="wedgeRectCallout">
            <a:avLst>
              <a:gd name="adj1" fmla="val 131512"/>
              <a:gd name="adj2" fmla="val 7634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Separation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Model, Compiler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Simplifies sem. actions &amp; unit testing</a:t>
            </a:r>
          </a:p>
        </p:txBody>
      </p:sp>
      <p:sp>
        <p:nvSpPr>
          <p:cNvPr id="35" name="Rechteckige Legende 34">
            <a:extLst>
              <a:ext uri="{FF2B5EF4-FFF2-40B4-BE49-F238E27FC236}">
                <a16:creationId xmlns:a16="http://schemas.microsoft.com/office/drawing/2014/main" id="{9CC1A532-1ED7-E5F0-D736-E48164B90AF2}"/>
              </a:ext>
            </a:extLst>
          </p:cNvPr>
          <p:cNvSpPr/>
          <p:nvPr/>
        </p:nvSpPr>
        <p:spPr>
          <a:xfrm>
            <a:off x="353419" y="4451625"/>
            <a:ext cx="2341412" cy="2054100"/>
          </a:xfrm>
          <a:prstGeom prst="wedgeRectCallout">
            <a:avLst>
              <a:gd name="adj1" fmla="val 76830"/>
              <a:gd name="adj2" fmla="val -1646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Libraries, Projects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compiled, tested, persisted separately.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i="1" dirty="0">
                <a:solidFill>
                  <a:schemeClr val="tx1"/>
                </a:solidFill>
              </a:rPr>
              <a:t>No “dependency problems”, </a:t>
            </a:r>
            <a:br>
              <a:rPr lang="en-US" b="1" i="1" dirty="0">
                <a:solidFill>
                  <a:schemeClr val="tx1"/>
                </a:solidFill>
              </a:rPr>
            </a:br>
            <a:r>
              <a:rPr lang="en-US" b="1" i="1" dirty="0" err="1">
                <a:solidFill>
                  <a:schemeClr val="tx1"/>
                </a:solidFill>
              </a:rPr>
              <a:t>sep.</a:t>
            </a:r>
            <a:r>
              <a:rPr lang="en-US" b="1" i="1" dirty="0">
                <a:solidFill>
                  <a:schemeClr val="tx1"/>
                </a:solidFill>
              </a:rPr>
              <a:t> versioning</a:t>
            </a:r>
          </a:p>
        </p:txBody>
      </p:sp>
      <p:sp>
        <p:nvSpPr>
          <p:cNvPr id="36" name="Rechteckige Legende 35">
            <a:extLst>
              <a:ext uri="{FF2B5EF4-FFF2-40B4-BE49-F238E27FC236}">
                <a16:creationId xmlns:a16="http://schemas.microsoft.com/office/drawing/2014/main" id="{E77CD6CE-BFCF-7DE9-ABD0-4E1CAA501C24}"/>
              </a:ext>
            </a:extLst>
          </p:cNvPr>
          <p:cNvSpPr/>
          <p:nvPr/>
        </p:nvSpPr>
        <p:spPr>
          <a:xfrm>
            <a:off x="7664972" y="5375909"/>
            <a:ext cx="2911867" cy="1412314"/>
          </a:xfrm>
          <a:prstGeom prst="wedgeRectCallout">
            <a:avLst>
              <a:gd name="adj1" fmla="val -45347"/>
              <a:gd name="adj2" fmla="val -22696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Separation </a:t>
            </a:r>
            <a:r>
              <a:rPr lang="en-US" i="1" dirty="0">
                <a:solidFill>
                  <a:schemeClr val="tx1"/>
                </a:solidFill>
              </a:rPr>
              <a:t>Model, Solver</a:t>
            </a:r>
          </a:p>
          <a:p>
            <a:pPr algn="ctr"/>
            <a:r>
              <a:rPr lang="en-US" b="1" i="1" dirty="0">
                <a:solidFill>
                  <a:schemeClr val="tx1"/>
                </a:solidFill>
              </a:rPr>
              <a:t>More directed tests </a:t>
            </a:r>
            <a:r>
              <a:rPr lang="en-US" i="1" dirty="0">
                <a:solidFill>
                  <a:schemeClr val="tx1"/>
                </a:solidFill>
              </a:rPr>
              <a:t>of dispatcher,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variable generation,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solver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98C11D4-AF3B-0058-30EB-670F50B1DF66}"/>
              </a:ext>
            </a:extLst>
          </p:cNvPr>
          <p:cNvSpPr txBox="1"/>
          <p:nvPr/>
        </p:nvSpPr>
        <p:spPr>
          <a:xfrm>
            <a:off x="8382250" y="3690876"/>
            <a:ext cx="38327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Variable</a:t>
            </a:r>
            <a:r>
              <a:rPr lang="en-US" sz="1400" b="1" dirty="0"/>
              <a:t> 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Instances for inherited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 Domain (Range, BDD)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Only base types, quantities, arrays/vectors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Export for usage in e.g., Z3, Sat4j &amp; built-in-solver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6305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9C0CB-1A0C-2520-F898-353580FC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Unit</a:t>
            </a:r>
            <a:r>
              <a:rPr lang="en-US" dirty="0"/>
              <a:t> Testing Approach for v3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FF269D-0CF4-C955-A2C2-1B697C77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Compiler </a:t>
            </a:r>
          </a:p>
          <a:p>
            <a:pPr lvl="1"/>
            <a:r>
              <a:rPr lang="en-US" sz="1600" dirty="0"/>
              <a:t>Very simple directed tests – related to single cause of error</a:t>
            </a:r>
          </a:p>
          <a:p>
            <a:pPr lvl="1"/>
            <a:r>
              <a:rPr lang="en-US" sz="1600" dirty="0"/>
              <a:t>Production rules accepted: Check Elements are generated &amp; correctly linked in </a:t>
            </a:r>
            <a:r>
              <a:rPr lang="en-US" sz="1600" dirty="0" err="1"/>
              <a:t>ElementData</a:t>
            </a:r>
            <a:endParaRPr lang="en-US" sz="1600" dirty="0"/>
          </a:p>
          <a:p>
            <a:pPr lvl="1"/>
            <a:r>
              <a:rPr lang="en-US" sz="1600" dirty="0"/>
              <a:t>Faulty programs not accepted: Check Errors are reported</a:t>
            </a:r>
          </a:p>
          <a:p>
            <a:pPr lvl="1"/>
            <a:endParaRPr lang="en-US" sz="1600" dirty="0"/>
          </a:p>
          <a:p>
            <a:r>
              <a:rPr lang="en-US" sz="1800" dirty="0"/>
              <a:t>Model</a:t>
            </a:r>
          </a:p>
          <a:p>
            <a:pPr lvl="1"/>
            <a:r>
              <a:rPr lang="en-US" sz="1400" dirty="0"/>
              <a:t>Import of </a:t>
            </a:r>
            <a:r>
              <a:rPr lang="en-US" sz="1400" dirty="0" err="1"/>
              <a:t>ElementData</a:t>
            </a:r>
            <a:r>
              <a:rPr lang="en-US" sz="1400" dirty="0"/>
              <a:t>/</a:t>
            </a:r>
            <a:r>
              <a:rPr lang="en-US" sz="1400" dirty="0" err="1"/>
              <a:t>ElementDAO</a:t>
            </a:r>
            <a:r>
              <a:rPr lang="en-US" sz="1400" dirty="0"/>
              <a:t> : Model correctly created and elements linked? </a:t>
            </a:r>
          </a:p>
          <a:p>
            <a:pPr lvl="1"/>
            <a:r>
              <a:rPr lang="en-US" sz="1400" dirty="0"/>
              <a:t>Name resolution of Qualified Names and Features chains, external references can be resolved? </a:t>
            </a:r>
          </a:p>
          <a:p>
            <a:pPr lvl="1"/>
            <a:r>
              <a:rPr lang="en-US" sz="1400" dirty="0"/>
              <a:t>Redefinitions</a:t>
            </a:r>
          </a:p>
          <a:p>
            <a:pPr lvl="1"/>
            <a:r>
              <a:rPr lang="en-US" sz="1400" dirty="0"/>
              <a:t>Addition of implicit elements OK? </a:t>
            </a:r>
          </a:p>
          <a:p>
            <a:pPr lvl="1"/>
            <a:r>
              <a:rPr lang="en-US" sz="1400" dirty="0"/>
              <a:t>Default multiplicities for Features, Types, Usages OK? </a:t>
            </a:r>
          </a:p>
          <a:p>
            <a:pPr lvl="1"/>
            <a:endParaRPr lang="en-US" sz="1400" dirty="0"/>
          </a:p>
          <a:p>
            <a:r>
              <a:rPr lang="en-US" sz="1800" dirty="0"/>
              <a:t>Solver </a:t>
            </a:r>
          </a:p>
          <a:p>
            <a:pPr lvl="1"/>
            <a:r>
              <a:rPr lang="en-US" sz="1400" dirty="0"/>
              <a:t>Generation of variables tests: Mapping of features, inherited features to base types, quantities, vector OK? </a:t>
            </a:r>
          </a:p>
          <a:p>
            <a:pPr lvl="1"/>
            <a:r>
              <a:rPr lang="en-US" sz="1400" dirty="0"/>
              <a:t>Dispatcher for overloaded expressions OK? (</a:t>
            </a:r>
            <a:r>
              <a:rPr lang="en-US" sz="1400" dirty="0" err="1"/>
              <a:t>WiP</a:t>
            </a:r>
            <a:r>
              <a:rPr lang="en-US" sz="1400" dirty="0"/>
              <a:t>) </a:t>
            </a:r>
          </a:p>
          <a:p>
            <a:pPr lvl="1"/>
            <a:r>
              <a:rPr lang="en-US" sz="1400" dirty="0"/>
              <a:t>Discrete solver tests, Continuous solver, solver interaction and convergence tests. </a:t>
            </a:r>
          </a:p>
          <a:p>
            <a:pPr lvl="1"/>
            <a:r>
              <a:rPr lang="en-US" sz="1400" dirty="0"/>
              <a:t>Expressions calculated correctly? Constraints considered globally? 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9361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61A6C-5CAB-0F58-DB83-D97BFC48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learned, Problems </a:t>
            </a:r>
            <a:r>
              <a:rPr lang="en-US" sz="3200" dirty="0"/>
              <a:t>(still learning, as </a:t>
            </a:r>
            <a:r>
              <a:rPr lang="en-US" sz="3200" dirty="0" err="1"/>
              <a:t>WiP</a:t>
            </a:r>
            <a:r>
              <a:rPr lang="en-US" sz="3200" dirty="0"/>
              <a:t>)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4A6349-AC67-A70C-B000-D34592141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9955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(Unit) tests can become more specific – </a:t>
            </a:r>
            <a:r>
              <a:rPr lang="en-US" sz="2000" i="1" dirty="0">
                <a:highlight>
                  <a:srgbClr val="FFFF00"/>
                </a:highlight>
              </a:rPr>
              <a:t>but re-writing needed, tests are longer </a:t>
            </a:r>
            <a:r>
              <a:rPr lang="en-US" sz="2000" i="1" dirty="0"/>
              <a:t>as model does not support access etc. – separation useful, but costly – benefit rather in implementation, use cases --&gt; We make small, initial test without model, bigger with. </a:t>
            </a:r>
          </a:p>
          <a:p>
            <a:r>
              <a:rPr lang="en-US" sz="2000" dirty="0"/>
              <a:t>Compiler can be separated from model with little effort</a:t>
            </a:r>
          </a:p>
          <a:p>
            <a:pPr lvl="1"/>
            <a:r>
              <a:rPr lang="en-US" sz="1800" dirty="0"/>
              <a:t>Significant reduction of complexity for compiler, semantic actions just collect data</a:t>
            </a:r>
          </a:p>
          <a:p>
            <a:pPr lvl="1"/>
            <a:r>
              <a:rPr lang="en-US" sz="1800" dirty="0"/>
              <a:t>Better testability (unit tests) at increased effort, but much easier debugging by introspection</a:t>
            </a:r>
          </a:p>
          <a:p>
            <a:pPr lvl="1"/>
            <a:r>
              <a:rPr lang="en-US" sz="1800" dirty="0">
                <a:highlight>
                  <a:srgbClr val="FFFF00"/>
                </a:highlight>
              </a:rPr>
              <a:t>UUID 5 still ugly and not yet nice solution. </a:t>
            </a:r>
          </a:p>
          <a:p>
            <a:pPr lvl="2"/>
            <a:r>
              <a:rPr lang="en-US" sz="1600" dirty="0"/>
              <a:t>Currently: 1</a:t>
            </a:r>
            <a:r>
              <a:rPr lang="en-US" sz="1600" baseline="30000" dirty="0"/>
              <a:t>st</a:t>
            </a:r>
            <a:r>
              <a:rPr lang="en-US" sz="1600" dirty="0"/>
              <a:t> run with UUID4, standard libraries get v5 on export, but with too-big-complexity. </a:t>
            </a:r>
            <a:endParaRPr lang="en-US" dirty="0"/>
          </a:p>
          <a:p>
            <a:r>
              <a:rPr lang="en-US" sz="2000" dirty="0"/>
              <a:t>Model benefits less from compiler, but high profit from separation of model from evaluation and solving (right side!). </a:t>
            </a:r>
          </a:p>
          <a:p>
            <a:pPr lvl="1"/>
            <a:r>
              <a:rPr lang="en-US" sz="1800" dirty="0">
                <a:highlight>
                  <a:srgbClr val="FFFF00"/>
                </a:highlight>
              </a:rPr>
              <a:t>Generation of variables and equations on base-types not trivial, requires effort. But good! Keep it.  </a:t>
            </a:r>
          </a:p>
          <a:p>
            <a:r>
              <a:rPr lang="en-US" sz="2000" dirty="0"/>
              <a:t>Less regression issues (and, maybe, benefit for use cases) by the external, name-based references in libraries and (API!) usages. Keeping it, add dependency management. </a:t>
            </a:r>
          </a:p>
          <a:p>
            <a:pPr lvl="1"/>
            <a:r>
              <a:rPr lang="en-US" sz="1800" dirty="0"/>
              <a:t>Currently only internal but might be candidate for standardization after improvements. </a:t>
            </a:r>
          </a:p>
          <a:p>
            <a:pPr lvl="1"/>
            <a:r>
              <a:rPr lang="en-US" sz="1800" dirty="0"/>
              <a:t>Very small effort, high benefit! Libraries can be easily combined to set up minimal testing environments (e.g., Base + </a:t>
            </a:r>
            <a:r>
              <a:rPr lang="en-US" sz="1800" dirty="0" err="1"/>
              <a:t>ScalarValues</a:t>
            </a:r>
            <a:r>
              <a:rPr lang="en-US" sz="1800" dirty="0"/>
              <a:t> only, reducing debug effort/complexity strongly) </a:t>
            </a:r>
            <a:endParaRPr lang="en-US" sz="1600" dirty="0"/>
          </a:p>
        </p:txBody>
      </p:sp>
      <p:sp>
        <p:nvSpPr>
          <p:cNvPr id="4" name="Rechteckige Legende 3">
            <a:extLst>
              <a:ext uri="{FF2B5EF4-FFF2-40B4-BE49-F238E27FC236}">
                <a16:creationId xmlns:a16="http://schemas.microsoft.com/office/drawing/2014/main" id="{AE0C6278-3893-1832-18E7-2BDD35F4BE7E}"/>
              </a:ext>
            </a:extLst>
          </p:cNvPr>
          <p:cNvSpPr/>
          <p:nvPr/>
        </p:nvSpPr>
        <p:spPr>
          <a:xfrm>
            <a:off x="97970" y="5880227"/>
            <a:ext cx="1164772" cy="858030"/>
          </a:xfrm>
          <a:prstGeom prst="wedgeRectCallout">
            <a:avLst>
              <a:gd name="adj1" fmla="val 39615"/>
              <a:gd name="adj2" fmla="val -9971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Best tradeoff </a:t>
            </a:r>
            <a:r>
              <a:rPr lang="en-US" sz="1200" dirty="0">
                <a:solidFill>
                  <a:schemeClr val="tx1"/>
                </a:solidFill>
              </a:rPr>
              <a:t>effort/ seen benefit!</a:t>
            </a:r>
          </a:p>
        </p:txBody>
      </p:sp>
      <p:sp>
        <p:nvSpPr>
          <p:cNvPr id="6" name="Rechteckige Legende 5">
            <a:extLst>
              <a:ext uri="{FF2B5EF4-FFF2-40B4-BE49-F238E27FC236}">
                <a16:creationId xmlns:a16="http://schemas.microsoft.com/office/drawing/2014/main" id="{67EC8E06-1F78-4414-3ECD-B834F3297FC9}"/>
              </a:ext>
            </a:extLst>
          </p:cNvPr>
          <p:cNvSpPr/>
          <p:nvPr/>
        </p:nvSpPr>
        <p:spPr>
          <a:xfrm>
            <a:off x="97970" y="3016251"/>
            <a:ext cx="1164772" cy="858030"/>
          </a:xfrm>
          <a:prstGeom prst="wedgeRectCallout">
            <a:avLst>
              <a:gd name="adj1" fmla="val 41484"/>
              <a:gd name="adj2" fmla="val -8448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Nice, but</a:t>
            </a:r>
            <a:r>
              <a:rPr lang="en-US" sz="1200" dirty="0">
                <a:solidFill>
                  <a:schemeClr val="tx1"/>
                </a:solidFill>
              </a:rPr>
              <a:t> maybe rather from re-use perspective</a:t>
            </a:r>
          </a:p>
        </p:txBody>
      </p:sp>
      <p:sp>
        <p:nvSpPr>
          <p:cNvPr id="7" name="Rechteckige Legende 6">
            <a:extLst>
              <a:ext uri="{FF2B5EF4-FFF2-40B4-BE49-F238E27FC236}">
                <a16:creationId xmlns:a16="http://schemas.microsoft.com/office/drawing/2014/main" id="{5098CB4D-5F64-472C-2A20-E1563B8DDE36}"/>
              </a:ext>
            </a:extLst>
          </p:cNvPr>
          <p:cNvSpPr/>
          <p:nvPr/>
        </p:nvSpPr>
        <p:spPr>
          <a:xfrm>
            <a:off x="97970" y="4426467"/>
            <a:ext cx="1012373" cy="994618"/>
          </a:xfrm>
          <a:prstGeom prst="wedgeRectCallout">
            <a:avLst>
              <a:gd name="adj1" fmla="val 49714"/>
              <a:gd name="adj2" fmla="val -7031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Very useful for advanced </a:t>
            </a:r>
            <a:r>
              <a:rPr lang="en-US" sz="1200" dirty="0">
                <a:solidFill>
                  <a:schemeClr val="tx1"/>
                </a:solidFill>
              </a:rPr>
              <a:t>evaluation,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dispatcher,</a:t>
            </a:r>
          </a:p>
        </p:txBody>
      </p:sp>
    </p:spTree>
    <p:extLst>
      <p:ext uri="{BB962C8B-B14F-4D97-AF65-F5344CB8AC3E}">
        <p14:creationId xmlns:p14="http://schemas.microsoft.com/office/powerpoint/2010/main" val="96557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77734F-55C8-BD5A-D35F-EE3DA735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Examples: comparison unit tests 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(compiler only)</a:t>
            </a:r>
            <a:b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2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More code for test …</a:t>
            </a:r>
            <a:b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but better traceability </a:t>
            </a:r>
            <a:b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 bugs</a:t>
            </a:r>
            <a:b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Good for  simple checks.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7F2E378-2511-EC73-9FEA-7431B709D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138" y="526178"/>
            <a:ext cx="7560754" cy="5046802"/>
          </a:xfrm>
          <a:prstGeom prst="rect">
            <a:avLst/>
          </a:prstGeom>
        </p:spPr>
      </p:pic>
      <p:sp>
        <p:nvSpPr>
          <p:cNvPr id="10" name="Rechteckige Legende 9">
            <a:extLst>
              <a:ext uri="{FF2B5EF4-FFF2-40B4-BE49-F238E27FC236}">
                <a16:creationId xmlns:a16="http://schemas.microsoft.com/office/drawing/2014/main" id="{87F758BF-2377-FE4D-D917-E2966B73577B}"/>
              </a:ext>
            </a:extLst>
          </p:cNvPr>
          <p:cNvSpPr/>
          <p:nvPr/>
        </p:nvSpPr>
        <p:spPr>
          <a:xfrm>
            <a:off x="5261547" y="5351488"/>
            <a:ext cx="4032355" cy="1506512"/>
          </a:xfrm>
          <a:prstGeom prst="wedgeRectCallout">
            <a:avLst>
              <a:gd name="adj1" fmla="val -9288"/>
              <a:gd name="adj2" fmla="val -206544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must directly check fields of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data elements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No hierarchical structure unless following UUIDs, no name resolution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5E675CB-DC11-E2FA-253D-BF444E61D64A}"/>
              </a:ext>
            </a:extLst>
          </p:cNvPr>
          <p:cNvSpPr txBox="1"/>
          <p:nvPr/>
        </p:nvSpPr>
        <p:spPr>
          <a:xfrm>
            <a:off x="730080" y="5078144"/>
            <a:ext cx="322614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/>
              <a:t>Note: </a:t>
            </a:r>
            <a:r>
              <a:rPr lang="en-US" sz="1400" dirty="0"/>
              <a:t>Code left is Kotlin Multiplatform</a:t>
            </a:r>
            <a:br>
              <a:rPr lang="en-US" sz="1400" dirty="0"/>
            </a:br>
            <a:r>
              <a:rPr lang="en-US" sz="1400" dirty="0"/>
              <a:t>(which IntelliJ IDEA translates to</a:t>
            </a:r>
            <a:br>
              <a:rPr lang="en-US" sz="1400" dirty="0"/>
            </a:br>
            <a:r>
              <a:rPr lang="en-US" sz="1400" dirty="0"/>
              <a:t>&amp; from Java) &amp; can generate JVM</a:t>
            </a:r>
            <a:br>
              <a:rPr lang="en-US" sz="1400" dirty="0"/>
            </a:br>
            <a:r>
              <a:rPr lang="en-US" sz="1400" dirty="0" err="1"/>
              <a:t>Bytcode</a:t>
            </a:r>
            <a:r>
              <a:rPr lang="en-US" sz="1400" dirty="0"/>
              <a:t>, various binaries, </a:t>
            </a:r>
            <a:r>
              <a:rPr lang="en-US" sz="1400" dirty="0" err="1"/>
              <a:t>Javascript</a:t>
            </a:r>
            <a:r>
              <a:rPr lang="en-US" sz="1400" dirty="0"/>
              <a:t>,  </a:t>
            </a:r>
            <a:br>
              <a:rPr lang="en-US" sz="1400" dirty="0"/>
            </a:br>
            <a:r>
              <a:rPr lang="en-US" sz="1400" dirty="0" err="1"/>
              <a:t>Webassembly</a:t>
            </a:r>
            <a:r>
              <a:rPr lang="en-US" sz="1400" dirty="0"/>
              <a:t>, Android, iOS … </a:t>
            </a:r>
          </a:p>
        </p:txBody>
      </p:sp>
    </p:spTree>
    <p:extLst>
      <p:ext uri="{BB962C8B-B14F-4D97-AF65-F5344CB8AC3E}">
        <p14:creationId xmlns:p14="http://schemas.microsoft.com/office/powerpoint/2010/main" val="1629089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A4B19-A599-A9D7-B350-00D8DFCE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E239B1E-3040-C705-9F32-C29F064A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94B56C5-EF7B-6EBE-4C78-8ED0B62D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Examples: comparison unit tests (with model)</a:t>
            </a:r>
            <a:b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Less  code …</a:t>
            </a:r>
            <a:b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but debugging goes via model, runs only if model is available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288F44B-8622-1870-798C-CE34E2794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804" y="1746150"/>
            <a:ext cx="7498171" cy="3333750"/>
          </a:xfrm>
          <a:prstGeom prst="rect">
            <a:avLst/>
          </a:prstGeom>
        </p:spPr>
      </p:pic>
      <p:sp>
        <p:nvSpPr>
          <p:cNvPr id="4" name="Rechteckige Legende 3">
            <a:extLst>
              <a:ext uri="{FF2B5EF4-FFF2-40B4-BE49-F238E27FC236}">
                <a16:creationId xmlns:a16="http://schemas.microsoft.com/office/drawing/2014/main" id="{284C52A1-19FD-A3F7-9D8B-DD0F596D0AC7}"/>
              </a:ext>
            </a:extLst>
          </p:cNvPr>
          <p:cNvSpPr/>
          <p:nvPr/>
        </p:nvSpPr>
        <p:spPr>
          <a:xfrm>
            <a:off x="5261547" y="5351489"/>
            <a:ext cx="4407109" cy="1201712"/>
          </a:xfrm>
          <a:prstGeom prst="wedgeRectCallout">
            <a:avLst>
              <a:gd name="adj1" fmla="val -9288"/>
              <a:gd name="adj2" fmla="val -206544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 resolution helps …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Access to dedicated fields helps ….</a:t>
            </a:r>
          </a:p>
          <a:p>
            <a:pPr algn="ctr"/>
            <a:r>
              <a:rPr lang="en-US" i="1" u="sng" dirty="0">
                <a:solidFill>
                  <a:schemeClr val="tx1"/>
                </a:solidFill>
              </a:rPr>
              <a:t>… if implemented and not involved in error. </a:t>
            </a:r>
          </a:p>
        </p:txBody>
      </p:sp>
    </p:spTree>
    <p:extLst>
      <p:ext uri="{BB962C8B-B14F-4D97-AF65-F5344CB8AC3E}">
        <p14:creationId xmlns:p14="http://schemas.microsoft.com/office/powerpoint/2010/main" val="4195174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AB350-5C7B-D8A9-CE76-564C180E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52E70E-A21D-11CC-1C07-FED1CB94C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First impression</a:t>
            </a:r>
          </a:p>
          <a:p>
            <a:pPr lvl="1"/>
            <a:r>
              <a:rPr lang="en-US" sz="2000" dirty="0"/>
              <a:t>Structuring into independent modules as described is possible and good</a:t>
            </a:r>
          </a:p>
          <a:p>
            <a:pPr lvl="1"/>
            <a:r>
              <a:rPr lang="en-US" sz="2000" dirty="0"/>
              <a:t>… reduces implementation and </a:t>
            </a:r>
            <a:r>
              <a:rPr lang="en-US" sz="2000" dirty="0" err="1"/>
              <a:t>v&amp;v</a:t>
            </a:r>
            <a:r>
              <a:rPr lang="en-US" sz="2000" dirty="0"/>
              <a:t> effort</a:t>
            </a:r>
          </a:p>
          <a:p>
            <a:pPr lvl="1"/>
            <a:r>
              <a:rPr lang="en-US" sz="2000" dirty="0"/>
              <a:t>… maybe opens re-use for re-use in other applications</a:t>
            </a:r>
          </a:p>
          <a:p>
            <a:pPr lvl="1"/>
            <a:r>
              <a:rPr lang="en-US" sz="2000" dirty="0"/>
              <a:t>… likely reduces entry hurdle for contributors </a:t>
            </a:r>
          </a:p>
          <a:p>
            <a:pPr lvl="1"/>
            <a:endParaRPr lang="en-US" sz="2000" dirty="0"/>
          </a:p>
          <a:p>
            <a:r>
              <a:rPr lang="en-US" sz="2400" dirty="0"/>
              <a:t>Implementation ongoing and not finished </a:t>
            </a:r>
          </a:p>
          <a:p>
            <a:pPr lvl="1"/>
            <a:r>
              <a:rPr lang="en-US" sz="2000" dirty="0"/>
              <a:t>Nice: less then 100 tests of 1600 failing in branch … </a:t>
            </a:r>
          </a:p>
          <a:p>
            <a:pPr lvl="1"/>
            <a:r>
              <a:rPr lang="en-US" sz="2000" dirty="0"/>
              <a:t>Not so nice: expressions by far not yet finished</a:t>
            </a:r>
          </a:p>
          <a:p>
            <a:pPr lvl="2"/>
            <a:r>
              <a:rPr lang="en-US" sz="1800" dirty="0"/>
              <a:t>open issues (type system?, operand overloading semantics?, dispatchers big </a:t>
            </a:r>
            <a:r>
              <a:rPr lang="en-US" sz="1800" dirty="0" err="1"/>
              <a:t>WiP</a:t>
            </a:r>
            <a:r>
              <a:rPr lang="en-US" sz="1800" dirty="0"/>
              <a:t>) </a:t>
            </a:r>
          </a:p>
          <a:p>
            <a:pPr lvl="2"/>
            <a:r>
              <a:rPr lang="en-US" sz="1800" dirty="0"/>
              <a:t>even grammar requires some more work (ANTLR 4, generation from EBNF) </a:t>
            </a:r>
          </a:p>
          <a:p>
            <a:pPr lvl="2"/>
            <a:r>
              <a:rPr lang="en-US" sz="1800" i="1" dirty="0"/>
              <a:t>But hope it will profit much from (and has driven) refactoring to v3 </a:t>
            </a:r>
          </a:p>
        </p:txBody>
      </p:sp>
    </p:spTree>
    <p:extLst>
      <p:ext uri="{BB962C8B-B14F-4D97-AF65-F5344CB8AC3E}">
        <p14:creationId xmlns:p14="http://schemas.microsoft.com/office/powerpoint/2010/main" val="1394617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Macintosh PowerPoint</Application>
  <PresentationFormat>Breitbild</PresentationFormat>
  <Paragraphs>141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</vt:lpstr>
      <vt:lpstr>SysMD v3 Architecture &amp; Testing Concept</vt:lpstr>
      <vt:lpstr>Architecture v2 Nightmare </vt:lpstr>
      <vt:lpstr>Objectives of Refactoring v2 to v3</vt:lpstr>
      <vt:lpstr>Architecture v3 Concept</vt:lpstr>
      <vt:lpstr>PowerPoint-Präsentation</vt:lpstr>
      <vt:lpstr>Unit Testing Approach for v3</vt:lpstr>
      <vt:lpstr>Lessons learned, Problems (still learning, as WiP)</vt:lpstr>
      <vt:lpstr>Examples: comparison unit tests (compiler only)    More code for test … but better traceability  of bugs Good for  simple checks.</vt:lpstr>
      <vt:lpstr>Examples: comparison unit tests (with model)   Less  code … but debugging goes via model, runs only if model is available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Prof. Dr. Christoph Grimm</dc:creator>
  <cp:lastModifiedBy>Prof. Dr. Christoph Grimm</cp:lastModifiedBy>
  <cp:revision>7</cp:revision>
  <dcterms:created xsi:type="dcterms:W3CDTF">2026-07-02T08:55:45Z</dcterms:created>
  <dcterms:modified xsi:type="dcterms:W3CDTF">2026-07-09T09:33:42Z</dcterms:modified>
</cp:coreProperties>
</file>