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6" r:id="rId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96B2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273"/>
    <p:restoredTop sz="94658"/>
  </p:normalViewPr>
  <p:slideViewPr>
    <p:cSldViewPr snapToGrid="0">
      <p:cViewPr>
        <p:scale>
          <a:sx n="213" d="100"/>
          <a:sy n="213" d="100"/>
        </p:scale>
        <p:origin x="-2552" y="-16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579709B-299E-D45F-5D06-2ABF75A646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54113F6-50CD-BE30-F11A-CDD25D0AFE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912CE18-B117-1D74-352A-0D3F002C9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4A19A-B6B0-8E44-9945-931CEE2E6C83}" type="datetimeFigureOut">
              <a:rPr lang="en-US" smtClean="0"/>
              <a:t>7/15/26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43ABC05-86AB-307F-0B11-561744BCE4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6F4741F-CAB4-D2EF-86CB-BA2093CAF4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B5FFE-EBEC-134E-8D14-FF4180C3533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2645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B0B435B-A564-B434-1FEE-F914113EC3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F541A84-BC11-31E3-FA46-AD1738CD74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F353E18-8A5F-61ED-D408-081B978730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4A19A-B6B0-8E44-9945-931CEE2E6C83}" type="datetimeFigureOut">
              <a:rPr lang="en-US" smtClean="0"/>
              <a:t>7/15/26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83F600E-A67F-A2B7-DD0D-6C1392C7DC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441C5F2-B7DF-A542-9280-926870B2D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B5FFE-EBEC-134E-8D14-FF4180C3533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8889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824153D-D49F-0182-E710-C6B64A9612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6F8E92F-10F8-B3F4-31BA-31E603DC43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DA9311E-11E9-827A-080B-C0DD57B76C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4A19A-B6B0-8E44-9945-931CEE2E6C83}" type="datetimeFigureOut">
              <a:rPr lang="en-US" smtClean="0"/>
              <a:t>7/15/26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290AA96-1CB0-658B-DB3E-4A3CB479F2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82A14C5-9CF9-622B-E597-B6835C1EA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B5FFE-EBEC-134E-8D14-FF4180C3533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0201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F5CC761-44AA-2187-AF8D-A14FE9D20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A777BC2-0EDD-E37E-5C14-A0CBA6E107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8739E2B5-1946-CFF0-604F-73E6ECFAB7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B0E34C1-A20C-D2A2-A6DD-C06D9D9EEE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4A19A-B6B0-8E44-9945-931CEE2E6C83}" type="datetimeFigureOut">
              <a:rPr lang="en-US" smtClean="0"/>
              <a:t>7/15/26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DA5F2D6-6473-BD33-57E0-B1DCDCE50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E95B65B-3679-C746-8F09-DC703A11B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B5FFE-EBEC-134E-8D14-FF4180C3533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3905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0ADFBF3-619E-0CDD-6C2B-AAB02B4B1A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B0AB5C2-17B7-0DCA-6D05-E8479D2C6F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A5146B44-3946-F55B-0D71-9EC94298B4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1B45180A-4DAD-9A65-7FF3-8C3EDE37E5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8C9621E5-49CD-9357-D9B6-943C6E0036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16070325-169D-78A0-6E3D-ADDEE5FDC5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4A19A-B6B0-8E44-9945-931CEE2E6C83}" type="datetimeFigureOut">
              <a:rPr lang="en-US" smtClean="0"/>
              <a:t>7/15/26</a:t>
            </a:fld>
            <a:endParaRPr lang="en-US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34A5780B-96EF-0C30-BE31-F555DF11E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BB01A9D3-D340-3A3D-8893-F37F7CC32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B5FFE-EBEC-134E-8D14-FF4180C3533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93259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6E08139-2AA1-105A-EC1B-B490F5E167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7489B8E-068D-C2F9-ED1E-B4B27E3E98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4A19A-B6B0-8E44-9945-931CEE2E6C83}" type="datetimeFigureOut">
              <a:rPr lang="en-US" smtClean="0"/>
              <a:t>7/15/26</a:t>
            </a:fld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62F3AD9-9926-25FC-364C-6792D7CA14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57EF39BB-4574-252B-C73F-7264EC892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B5FFE-EBEC-134E-8D14-FF4180C3533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5890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8D4B8948-024B-20D8-E6A7-928ADD071E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4A19A-B6B0-8E44-9945-931CEE2E6C83}" type="datetimeFigureOut">
              <a:rPr lang="en-US" smtClean="0"/>
              <a:t>7/15/26</a:t>
            </a:fld>
            <a:endParaRPr lang="en-US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D66BE1D0-427B-FB04-908A-01857AFE4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6412EFA-E269-BA93-155B-A837622E9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B5FFE-EBEC-134E-8D14-FF4180C3533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64615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BDE3E5B-BDCB-EAAE-6B64-D306C52BC6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A354A6D-3C94-6060-7582-ACFFCC6AC7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73886BF1-2483-9C23-6F4E-2FA797251A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E915DC4-B061-1E59-A00B-4945FB5E8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4A19A-B6B0-8E44-9945-931CEE2E6C83}" type="datetimeFigureOut">
              <a:rPr lang="en-US" smtClean="0"/>
              <a:t>7/15/26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924F49A-F025-1152-53D7-7C2E1A8DA8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7A7EABC-30CD-6020-F51A-A3F255692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B5FFE-EBEC-134E-8D14-FF4180C3533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6895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CFC5B6E-4F26-F0AF-4A9B-7F49F6B660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8073925C-CDFF-A4AD-4B06-77D03D161E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0C57D4D-5409-3D04-F851-A4AC1AC675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8589084-CEC1-855E-0840-CC944CD46A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4A19A-B6B0-8E44-9945-931CEE2E6C83}" type="datetimeFigureOut">
              <a:rPr lang="en-US" smtClean="0"/>
              <a:t>7/15/26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93B1CB9-5EF7-5A7F-0C37-2DFDC8EE7D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2A19B14-7E9B-CAC6-FF38-0104F0875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B5FFE-EBEC-134E-8D14-FF4180C3533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18466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6DD0E05-D394-55FF-9B5C-D27AC9D270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2427C03C-A401-BE16-3D51-7DEBAE7DE7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8AF3AC8-F85C-78B6-A8CB-D535A6DF97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4A19A-B6B0-8E44-9945-931CEE2E6C83}" type="datetimeFigureOut">
              <a:rPr lang="en-US" smtClean="0"/>
              <a:t>7/15/26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1DD9E19-DD14-9407-9962-3E12C4B88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6ACCC89-FF14-A6F1-4C94-1E8FE9E43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B5FFE-EBEC-134E-8D14-FF4180C3533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81882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FA91BE49-6D42-9416-4494-698C49A9854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BBE3D13E-CFE4-8BF6-4CDD-F12A48E32A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955A7BB-D6CC-AB1C-DC76-D2BA0B8563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4A19A-B6B0-8E44-9945-931CEE2E6C83}" type="datetimeFigureOut">
              <a:rPr lang="en-US" smtClean="0"/>
              <a:t>7/15/26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77DA0F4-202C-BB8F-5CEE-13AA290301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696B4EE-1F5A-2F8A-CF1C-9334701A8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B5FFE-EBEC-134E-8D14-FF4180C3533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44146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D0294467-3B96-34F8-0BA8-343932E1A2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09A036A-5246-7A49-7081-54F3625E2A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E0480C2-A109-BE62-5EEC-8BD6C3D9C4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74A19A-B6B0-8E44-9945-931CEE2E6C83}" type="datetimeFigureOut">
              <a:rPr lang="en-US" smtClean="0"/>
              <a:t>7/15/26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FF21FC6-068A-7068-1586-FEAEB4E0B8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944206E-8E10-0C54-5332-E121B9F1A4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3B5FFE-EBEC-134E-8D14-FF4180C3533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4863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EA12263-34C3-6A15-3FD6-228AB7DEA2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SysMD Metamodel Color Badges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1EE471B-EA85-E281-0B46-511066449A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400" dirty="0"/>
              <a:t>Package, Namespace (pure), Annotating Elements  	= </a:t>
            </a:r>
            <a:r>
              <a:rPr lang="en-US" sz="1400" dirty="0">
                <a:solidFill>
                  <a:schemeClr val="accent3"/>
                </a:solidFill>
              </a:rPr>
              <a:t>Green, Dark Green</a:t>
            </a:r>
          </a:p>
          <a:p>
            <a:pPr marL="0" indent="0">
              <a:buNone/>
            </a:pPr>
            <a:endParaRPr lang="en-US" sz="1400" b="1" dirty="0"/>
          </a:p>
          <a:p>
            <a:pPr marL="0" indent="0">
              <a:buNone/>
            </a:pPr>
            <a:r>
              <a:rPr lang="en-US" sz="1400" b="1" dirty="0"/>
              <a:t>“Structure” </a:t>
            </a:r>
          </a:p>
          <a:p>
            <a:r>
              <a:rPr lang="en-US" sz="1400" dirty="0"/>
              <a:t>Feature, Structure, Part, Port, Connection, Interface … 		= </a:t>
            </a:r>
            <a:r>
              <a:rPr lang="en-US" sz="1400" dirty="0">
                <a:solidFill>
                  <a:schemeClr val="accent1"/>
                </a:solidFill>
              </a:rPr>
              <a:t>Blue</a:t>
            </a:r>
            <a:r>
              <a:rPr lang="en-US" sz="1400" dirty="0"/>
              <a:t> </a:t>
            </a:r>
          </a:p>
          <a:p>
            <a:r>
              <a:rPr lang="en-US" sz="1400" dirty="0"/>
              <a:t>Type, Part Def, Port Def, Connection Def, … 			= </a:t>
            </a:r>
            <a:r>
              <a:rPr lang="en-US" sz="1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Dark Blue</a:t>
            </a:r>
          </a:p>
          <a:p>
            <a:pPr marL="0" indent="0">
              <a:buNone/>
            </a:pPr>
            <a:br>
              <a:rPr lang="en-US" sz="1400" b="1" dirty="0"/>
            </a:br>
            <a:r>
              <a:rPr lang="en-US" sz="1400" b="1" dirty="0"/>
              <a:t>“Compute”</a:t>
            </a:r>
          </a:p>
          <a:p>
            <a:r>
              <a:rPr lang="en-US" sz="1400" dirty="0"/>
              <a:t>Expression, Feature with Expression, Attribute, Invariant, etc. 	= </a:t>
            </a:r>
            <a:r>
              <a:rPr lang="en-US" sz="1400" dirty="0">
                <a:solidFill>
                  <a:srgbClr val="C00000"/>
                </a:solidFill>
              </a:rPr>
              <a:t>Red</a:t>
            </a:r>
          </a:p>
          <a:p>
            <a:r>
              <a:rPr lang="en-US" sz="1400" dirty="0"/>
              <a:t>Function, Attribute Def, etc. 				= </a:t>
            </a:r>
            <a:r>
              <a:rPr lang="en-US" sz="1400" dirty="0">
                <a:solidFill>
                  <a:schemeClr val="accent5"/>
                </a:solidFill>
              </a:rPr>
              <a:t>Magenta</a:t>
            </a:r>
            <a:br>
              <a:rPr lang="en-US" sz="1400" dirty="0">
                <a:solidFill>
                  <a:schemeClr val="accent5"/>
                </a:solidFill>
              </a:rPr>
            </a:br>
            <a:endParaRPr lang="en-US" sz="1400" dirty="0"/>
          </a:p>
          <a:p>
            <a:pPr marL="0" indent="0">
              <a:buNone/>
            </a:pPr>
            <a:r>
              <a:rPr lang="en-US" sz="1400" b="1" dirty="0"/>
              <a:t>“Behavior” </a:t>
            </a:r>
          </a:p>
          <a:p>
            <a:r>
              <a:rPr lang="en-US" sz="1400" dirty="0"/>
              <a:t>Step, Transitions, … ? 				= </a:t>
            </a:r>
            <a:r>
              <a:rPr lang="en-US" sz="1400" dirty="0">
                <a:solidFill>
                  <a:schemeClr val="accent2"/>
                </a:solidFill>
              </a:rPr>
              <a:t>Orange</a:t>
            </a:r>
          </a:p>
          <a:p>
            <a:r>
              <a:rPr lang="en-US" sz="1400" dirty="0"/>
              <a:t>Definitions of Behavior				= </a:t>
            </a:r>
            <a:r>
              <a:rPr lang="en-US" sz="1400" dirty="0">
                <a:solidFill>
                  <a:schemeClr val="accent2">
                    <a:lumMod val="75000"/>
                  </a:schemeClr>
                </a:solidFill>
              </a:rPr>
              <a:t>Dark Orange </a:t>
            </a:r>
          </a:p>
          <a:p>
            <a:endParaRPr lang="en-US" sz="1800" dirty="0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9D59BB37-8156-12D1-9E9B-093E81CE164C}"/>
              </a:ext>
            </a:extLst>
          </p:cNvPr>
          <p:cNvSpPr txBox="1"/>
          <p:nvPr/>
        </p:nvSpPr>
        <p:spPr>
          <a:xfrm>
            <a:off x="8112930" y="1825625"/>
            <a:ext cx="3742115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Objectives of color badges: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Support navigation in hierarchy, </a:t>
            </a:r>
            <a:br>
              <a:rPr lang="en-US" sz="1600" dirty="0"/>
            </a:br>
            <a:r>
              <a:rPr lang="en-US" sz="1600" dirty="0"/>
              <a:t>find calculations quickly !</a:t>
            </a:r>
            <a:br>
              <a:rPr lang="en-US" sz="1600" dirty="0"/>
            </a:br>
            <a:r>
              <a:rPr lang="en-US" sz="16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Guide user to Expressions, Invariants</a:t>
            </a:r>
            <a:br>
              <a:rPr lang="en-US" sz="1600" dirty="0"/>
            </a:br>
            <a:r>
              <a:rPr lang="en-US" sz="1600" dirty="0"/>
              <a:t>for </a:t>
            </a:r>
            <a:r>
              <a:rPr lang="en-US" sz="1600" dirty="0" err="1"/>
              <a:t>SysMD’s</a:t>
            </a:r>
            <a:r>
              <a:rPr lang="en-US" sz="1600" dirty="0"/>
              <a:t> solver (= red)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Structure &amp; Behavior (= red)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Doc, Packages (= green)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i="1" dirty="0"/>
              <a:t>Distinguish and at the same </a:t>
            </a:r>
            <a:br>
              <a:rPr lang="en-US" sz="1600" i="1" dirty="0"/>
            </a:br>
            <a:r>
              <a:rPr lang="en-US" sz="1600" i="1" dirty="0"/>
              <a:t>link Definitions and Usage by </a:t>
            </a:r>
            <a:br>
              <a:rPr lang="en-US" sz="1600" i="1" dirty="0"/>
            </a:br>
            <a:r>
              <a:rPr lang="en-US" sz="1600" i="1" dirty="0"/>
              <a:t>color + same color in darker tone.  </a:t>
            </a:r>
            <a:br>
              <a:rPr lang="en-US" sz="1600" i="1" dirty="0"/>
            </a:br>
            <a:endParaRPr lang="en-US" sz="1600" i="1" dirty="0"/>
          </a:p>
        </p:txBody>
      </p:sp>
    </p:spTree>
    <p:extLst>
      <p:ext uri="{BB962C8B-B14F-4D97-AF65-F5344CB8AC3E}">
        <p14:creationId xmlns:p14="http://schemas.microsoft.com/office/powerpoint/2010/main" val="4404690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60FBF41E-D3FE-F4A1-E501-FFC4077F7B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967886"/>
            <a:ext cx="7772400" cy="4922228"/>
          </a:xfrm>
          <a:prstGeom prst="rect">
            <a:avLst/>
          </a:prstGeom>
        </p:spPr>
      </p:pic>
      <p:sp>
        <p:nvSpPr>
          <p:cNvPr id="5" name="Rechteck 4">
            <a:extLst>
              <a:ext uri="{FF2B5EF4-FFF2-40B4-BE49-F238E27FC236}">
                <a16:creationId xmlns:a16="http://schemas.microsoft.com/office/drawing/2014/main" id="{DE0949A5-C95A-0CB1-ADE1-CF73EEDCDCC3}"/>
              </a:ext>
            </a:extLst>
          </p:cNvPr>
          <p:cNvSpPr/>
          <p:nvPr/>
        </p:nvSpPr>
        <p:spPr>
          <a:xfrm>
            <a:off x="4338083" y="1403498"/>
            <a:ext cx="1095153" cy="361507"/>
          </a:xfrm>
          <a:prstGeom prst="rect">
            <a:avLst/>
          </a:prstGeom>
          <a:solidFill>
            <a:srgbClr val="196B24">
              <a:alpha val="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AF5F3BEA-E519-1CFD-092F-B889BE20C1E6}"/>
              </a:ext>
            </a:extLst>
          </p:cNvPr>
          <p:cNvSpPr/>
          <p:nvPr/>
        </p:nvSpPr>
        <p:spPr>
          <a:xfrm>
            <a:off x="4692501" y="1765005"/>
            <a:ext cx="740735" cy="361507"/>
          </a:xfrm>
          <a:prstGeom prst="rect">
            <a:avLst/>
          </a:prstGeom>
          <a:solidFill>
            <a:srgbClr val="196B24">
              <a:alpha val="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45F21A00-E878-69B3-5D5E-CD81B56E6145}"/>
              </a:ext>
            </a:extLst>
          </p:cNvPr>
          <p:cNvSpPr/>
          <p:nvPr/>
        </p:nvSpPr>
        <p:spPr>
          <a:xfrm>
            <a:off x="5925878" y="1403497"/>
            <a:ext cx="2622699" cy="839973"/>
          </a:xfrm>
          <a:prstGeom prst="rect">
            <a:avLst/>
          </a:prstGeom>
          <a:solidFill>
            <a:srgbClr val="196B24">
              <a:alpha val="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74C35A21-B38D-7DB9-3759-9895B9543A8D}"/>
              </a:ext>
            </a:extLst>
          </p:cNvPr>
          <p:cNvSpPr/>
          <p:nvPr/>
        </p:nvSpPr>
        <p:spPr>
          <a:xfrm>
            <a:off x="6642690" y="2243471"/>
            <a:ext cx="1076548" cy="350874"/>
          </a:xfrm>
          <a:prstGeom prst="rect">
            <a:avLst/>
          </a:prstGeom>
          <a:solidFill>
            <a:srgbClr val="196B24">
              <a:alpha val="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806EE052-A461-33BB-C215-76A4CB63477A}"/>
              </a:ext>
            </a:extLst>
          </p:cNvPr>
          <p:cNvSpPr/>
          <p:nvPr/>
        </p:nvSpPr>
        <p:spPr>
          <a:xfrm>
            <a:off x="5979040" y="3110025"/>
            <a:ext cx="1378690" cy="350874"/>
          </a:xfrm>
          <a:prstGeom prst="rect">
            <a:avLst/>
          </a:prstGeom>
          <a:solidFill>
            <a:srgbClr val="C00000">
              <a:alpha val="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60D914D8-CB7C-9B8D-6ADA-0A78AFB6C78F}"/>
              </a:ext>
            </a:extLst>
          </p:cNvPr>
          <p:cNvSpPr/>
          <p:nvPr/>
        </p:nvSpPr>
        <p:spPr>
          <a:xfrm>
            <a:off x="5589179" y="3886038"/>
            <a:ext cx="4001387" cy="2004075"/>
          </a:xfrm>
          <a:prstGeom prst="rect">
            <a:avLst/>
          </a:prstGeom>
          <a:solidFill>
            <a:srgbClr val="C00000">
              <a:alpha val="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9BD69CB7-B182-1728-89D9-EEAEFF6776FD}"/>
              </a:ext>
            </a:extLst>
          </p:cNvPr>
          <p:cNvSpPr/>
          <p:nvPr/>
        </p:nvSpPr>
        <p:spPr>
          <a:xfrm>
            <a:off x="3668232" y="4380615"/>
            <a:ext cx="1910314" cy="350874"/>
          </a:xfrm>
          <a:prstGeom prst="rect">
            <a:avLst/>
          </a:prstGeom>
          <a:solidFill>
            <a:srgbClr val="C00000">
              <a:alpha val="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975383A0-8983-ADE3-B233-0D191D42E370}"/>
              </a:ext>
            </a:extLst>
          </p:cNvPr>
          <p:cNvSpPr/>
          <p:nvPr/>
        </p:nvSpPr>
        <p:spPr>
          <a:xfrm>
            <a:off x="4864393" y="3561906"/>
            <a:ext cx="692887" cy="744279"/>
          </a:xfrm>
          <a:prstGeom prst="rect">
            <a:avLst/>
          </a:prstGeom>
          <a:solidFill>
            <a:schemeClr val="accent5">
              <a:alpha val="9804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B1184837-C0FB-4731-3200-B4EA0AE0B491}"/>
              </a:ext>
            </a:extLst>
          </p:cNvPr>
          <p:cNvSpPr txBox="1"/>
          <p:nvPr/>
        </p:nvSpPr>
        <p:spPr>
          <a:xfrm>
            <a:off x="9728792" y="4731489"/>
            <a:ext cx="14780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C00000"/>
                </a:solidFill>
              </a:rPr>
              <a:t>(Calculations )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9B8958B8-2A92-FF0D-59ED-15D0F48E713E}"/>
              </a:ext>
            </a:extLst>
          </p:cNvPr>
          <p:cNvSpPr txBox="1"/>
          <p:nvPr/>
        </p:nvSpPr>
        <p:spPr>
          <a:xfrm>
            <a:off x="9696893" y="1395673"/>
            <a:ext cx="19367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(Model mgmt., Doc)</a:t>
            </a: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111FDD5F-C2C6-C4D5-2BFE-3BC84C4FAA6A}"/>
              </a:ext>
            </a:extLst>
          </p:cNvPr>
          <p:cNvSpPr/>
          <p:nvPr/>
        </p:nvSpPr>
        <p:spPr>
          <a:xfrm>
            <a:off x="2449031" y="2626243"/>
            <a:ext cx="3476847" cy="781330"/>
          </a:xfrm>
          <a:prstGeom prst="rect">
            <a:avLst/>
          </a:prstGeom>
          <a:solidFill>
            <a:schemeClr val="tx2">
              <a:lumMod val="90000"/>
              <a:lumOff val="10000"/>
              <a:alpha val="9804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5D2922E2-140A-76B2-2B0C-9AAA7D3E32A6}"/>
              </a:ext>
            </a:extLst>
          </p:cNvPr>
          <p:cNvSpPr/>
          <p:nvPr/>
        </p:nvSpPr>
        <p:spPr>
          <a:xfrm>
            <a:off x="5936507" y="2288905"/>
            <a:ext cx="663651" cy="379704"/>
          </a:xfrm>
          <a:prstGeom prst="rect">
            <a:avLst/>
          </a:prstGeom>
          <a:solidFill>
            <a:schemeClr val="tx2">
              <a:lumMod val="50000"/>
              <a:lumOff val="50000"/>
              <a:alpha val="9804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EA9FD202-BD8A-96B7-7744-27A933089D31}"/>
              </a:ext>
            </a:extLst>
          </p:cNvPr>
          <p:cNvSpPr/>
          <p:nvPr/>
        </p:nvSpPr>
        <p:spPr>
          <a:xfrm>
            <a:off x="5979040" y="2748517"/>
            <a:ext cx="663650" cy="350874"/>
          </a:xfrm>
          <a:prstGeom prst="rect">
            <a:avLst/>
          </a:prstGeom>
          <a:solidFill>
            <a:srgbClr val="C00000">
              <a:alpha val="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2C56E4D2-B253-2897-C3E9-6A6053A1492E}"/>
              </a:ext>
            </a:extLst>
          </p:cNvPr>
          <p:cNvSpPr/>
          <p:nvPr/>
        </p:nvSpPr>
        <p:spPr>
          <a:xfrm>
            <a:off x="4168843" y="3418206"/>
            <a:ext cx="663651" cy="454134"/>
          </a:xfrm>
          <a:prstGeom prst="rect">
            <a:avLst/>
          </a:prstGeom>
          <a:solidFill>
            <a:schemeClr val="tx2">
              <a:lumMod val="90000"/>
              <a:lumOff val="10000"/>
              <a:alpha val="9804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13526056-961E-4D2A-A67F-377C537E33A2}"/>
              </a:ext>
            </a:extLst>
          </p:cNvPr>
          <p:cNvSpPr/>
          <p:nvPr/>
        </p:nvSpPr>
        <p:spPr>
          <a:xfrm>
            <a:off x="4002270" y="1890183"/>
            <a:ext cx="663651" cy="736060"/>
          </a:xfrm>
          <a:prstGeom prst="rect">
            <a:avLst/>
          </a:prstGeom>
          <a:solidFill>
            <a:schemeClr val="tx2">
              <a:lumMod val="90000"/>
              <a:lumOff val="10000"/>
              <a:alpha val="9804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00822737-5390-02D0-5C34-24826FE7427C}"/>
              </a:ext>
            </a:extLst>
          </p:cNvPr>
          <p:cNvSpPr/>
          <p:nvPr/>
        </p:nvSpPr>
        <p:spPr>
          <a:xfrm>
            <a:off x="6695852" y="2670635"/>
            <a:ext cx="1544381" cy="379704"/>
          </a:xfrm>
          <a:prstGeom prst="rect">
            <a:avLst/>
          </a:prstGeom>
          <a:solidFill>
            <a:schemeClr val="tx2">
              <a:lumMod val="50000"/>
              <a:lumOff val="50000"/>
              <a:alpha val="9804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6B57B294-B34D-E6C6-37AA-31688E91E59D}"/>
              </a:ext>
            </a:extLst>
          </p:cNvPr>
          <p:cNvSpPr/>
          <p:nvPr/>
        </p:nvSpPr>
        <p:spPr>
          <a:xfrm>
            <a:off x="7410892" y="3058560"/>
            <a:ext cx="2153154" cy="778426"/>
          </a:xfrm>
          <a:prstGeom prst="rect">
            <a:avLst/>
          </a:prstGeom>
          <a:solidFill>
            <a:schemeClr val="tx2">
              <a:lumMod val="50000"/>
              <a:lumOff val="50000"/>
              <a:alpha val="9804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02DA122A-CE87-800A-4E81-53913E0352DF}"/>
              </a:ext>
            </a:extLst>
          </p:cNvPr>
          <p:cNvSpPr txBox="1"/>
          <p:nvPr/>
        </p:nvSpPr>
        <p:spPr>
          <a:xfrm>
            <a:off x="9723535" y="3169742"/>
            <a:ext cx="20076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(Structure, Behavior)</a:t>
            </a: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B661FC63-D383-457F-E7BE-90F532E24FD1}"/>
              </a:ext>
            </a:extLst>
          </p:cNvPr>
          <p:cNvSpPr txBox="1"/>
          <p:nvPr/>
        </p:nvSpPr>
        <p:spPr>
          <a:xfrm>
            <a:off x="604905" y="4595232"/>
            <a:ext cx="2402261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Classifications, </a:t>
            </a:r>
            <a:br>
              <a:rPr lang="en-US" sz="1600" dirty="0"/>
            </a:br>
            <a:r>
              <a:rPr lang="en-US" sz="1600" dirty="0"/>
              <a:t>Definitions = darker tone.</a:t>
            </a:r>
          </a:p>
          <a:p>
            <a:endParaRPr lang="en-US" sz="1600" dirty="0"/>
          </a:p>
          <a:p>
            <a:r>
              <a:rPr lang="en-US" sz="1600" dirty="0"/>
              <a:t>Features, </a:t>
            </a:r>
            <a:br>
              <a:rPr lang="en-US" sz="1600" dirty="0"/>
            </a:br>
            <a:r>
              <a:rPr lang="en-US" sz="1600" dirty="0"/>
              <a:t>Usages = regular tone. </a:t>
            </a:r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08416542-4837-ECA6-F38B-55EEC67200EC}"/>
              </a:ext>
            </a:extLst>
          </p:cNvPr>
          <p:cNvSpPr txBox="1"/>
          <p:nvPr/>
        </p:nvSpPr>
        <p:spPr>
          <a:xfrm>
            <a:off x="5901954" y="5926156"/>
            <a:ext cx="288784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(SysML: Attribute Usage, Constraints, …) </a:t>
            </a:r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2479D4A6-59B0-878C-6960-768803371368}"/>
              </a:ext>
            </a:extLst>
          </p:cNvPr>
          <p:cNvSpPr txBox="1"/>
          <p:nvPr/>
        </p:nvSpPr>
        <p:spPr>
          <a:xfrm>
            <a:off x="2130464" y="4052415"/>
            <a:ext cx="28906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(SysML: Attribute Def, Constraint Def, …) </a:t>
            </a: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41E04CF1-A012-D0F0-DA02-8749A074BFE2}"/>
              </a:ext>
            </a:extLst>
          </p:cNvPr>
          <p:cNvSpPr txBox="1"/>
          <p:nvPr/>
        </p:nvSpPr>
        <p:spPr>
          <a:xfrm>
            <a:off x="9723535" y="3535171"/>
            <a:ext cx="28906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(SysML: Attribute Def, Constraint Def, …) </a:t>
            </a:r>
          </a:p>
        </p:txBody>
      </p:sp>
    </p:spTree>
    <p:extLst>
      <p:ext uri="{BB962C8B-B14F-4D97-AF65-F5344CB8AC3E}">
        <p14:creationId xmlns:p14="http://schemas.microsoft.com/office/powerpoint/2010/main" val="42253578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235</Words>
  <Application>Microsoft Macintosh PowerPoint</Application>
  <PresentationFormat>Breitbild</PresentationFormat>
  <Paragraphs>30</Paragraphs>
  <Slides>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</vt:lpstr>
      <vt:lpstr>SysMD Metamodel Color Badges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Prof. Dr. Christoph Grimm</dc:creator>
  <cp:lastModifiedBy>Prof. Dr. Christoph Grimm</cp:lastModifiedBy>
  <cp:revision>5</cp:revision>
  <dcterms:created xsi:type="dcterms:W3CDTF">2026-07-10T10:31:12Z</dcterms:created>
  <dcterms:modified xsi:type="dcterms:W3CDTF">2026-07-15T21:33:02Z</dcterms:modified>
</cp:coreProperties>
</file>